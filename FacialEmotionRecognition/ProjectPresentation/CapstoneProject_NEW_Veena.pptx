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64" r:id="rId9"/>
    <p:sldId id="265" r:id="rId10"/>
    <p:sldId id="270" r:id="rId11"/>
    <p:sldId id="266" r:id="rId12"/>
    <p:sldId id="271" r:id="rId13"/>
    <p:sldId id="267" r:id="rId14"/>
    <p:sldId id="268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C1CF91-3372-4AAA-B8A4-1F0D0BEC6D29}">
          <p14:sldIdLst>
            <p14:sldId id="256"/>
            <p14:sldId id="257"/>
            <p14:sldId id="258"/>
            <p14:sldId id="259"/>
            <p14:sldId id="260"/>
            <p14:sldId id="261"/>
            <p14:sldId id="272"/>
            <p14:sldId id="264"/>
            <p14:sldId id="265"/>
            <p14:sldId id="270"/>
            <p14:sldId id="266"/>
            <p14:sldId id="271"/>
            <p14:sldId id="267"/>
            <p14:sldId id="268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192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480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274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6117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726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525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4382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1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0362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8183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081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45767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458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5017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3238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35555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950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375FFD08-F7C0-48E6-986B-C0D568938D4A}" type="datetimeFigureOut">
              <a:rPr lang="en-IN" smtClean="0"/>
              <a:t>26-04-2025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E7F237C-1634-4045-B940-CAF030BB86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0355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69B88-A1E8-A062-13F7-AB9BC23056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1257" y="1012372"/>
            <a:ext cx="6335485" cy="2994177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br>
              <a:rPr lang="en-IN" sz="44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44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Facial Emotion Recognition</a:t>
            </a:r>
            <a:br>
              <a:rPr lang="en-US" sz="44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br>
              <a:rPr lang="en-US" sz="44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2700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Capstone Project</a:t>
            </a:r>
            <a:br>
              <a:rPr lang="en-IN" sz="2700" kern="1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IN" sz="27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C7AA79-4777-8DF6-07B8-C4BE48E54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30886" y="3810000"/>
            <a:ext cx="4038600" cy="1905000"/>
          </a:xfrm>
        </p:spPr>
        <p:txBody>
          <a:bodyPr>
            <a:normAutofit fontScale="25000" lnSpcReduction="20000"/>
          </a:bodyPr>
          <a:lstStyle/>
          <a:p>
            <a:endParaRPr lang="en-IN" dirty="0"/>
          </a:p>
          <a:p>
            <a:endParaRPr lang="en-IN" dirty="0"/>
          </a:p>
          <a:p>
            <a:pPr algn="r">
              <a:lnSpc>
                <a:spcPct val="107000"/>
              </a:lnSpc>
              <a:spcAft>
                <a:spcPts val="800"/>
              </a:spcAft>
              <a:buNone/>
            </a:pPr>
            <a:endParaRPr lang="en-US" sz="1800" u="sng" kern="100" dirty="0">
              <a:solidFill>
                <a:srgbClr val="44546A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endParaRPr lang="en-US" sz="9800" u="sng" kern="100" dirty="0">
              <a:solidFill>
                <a:srgbClr val="44546A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9800" u="sng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Presented by</a:t>
            </a:r>
            <a:endParaRPr lang="en-IN" sz="9800" kern="100" dirty="0">
              <a:solidFill>
                <a:schemeClr val="accent2">
                  <a:lumMod val="40000"/>
                  <a:lumOff val="60000"/>
                </a:schemeClr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9800" b="1" kern="10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Veena Gindo</a:t>
            </a:r>
            <a:br>
              <a:rPr lang="en-US" sz="9800" b="1" kern="100" dirty="0">
                <a:solidFill>
                  <a:srgbClr val="44546A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en-IN" sz="98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FFC63F-2987-768C-AA78-4695EE0202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6743" y="1333166"/>
            <a:ext cx="5214258" cy="2324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01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734B-CC17-9B2E-4F99-CD2EBF4B9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28247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306F7-88A5-A320-9530-D2EB61D13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372"/>
            <a:ext cx="10515600" cy="4783592"/>
          </a:xfrm>
        </p:spPr>
        <p:txBody>
          <a:bodyPr>
            <a:normAutofit/>
          </a:bodyPr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Introduction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Problem Statement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Dataset Used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 Preprocessing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Model Building and Evaluation</a:t>
            </a:r>
          </a:p>
          <a:p>
            <a:pPr marL="34290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Hyper Parameter Tuning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Metrics Used</a:t>
            </a: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Inference</a:t>
            </a:r>
            <a:endParaRPr lang="en-US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US" sz="20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Future Improvements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Conclusion</a:t>
            </a:r>
            <a:endParaRPr lang="en-IN" sz="20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6975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F45FC-5CA5-E076-58B7-91C0F3079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8505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DA339-1580-AF45-1725-8C4B74EF1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630"/>
            <a:ext cx="10515600" cy="4985656"/>
          </a:xfrm>
        </p:spPr>
        <p:txBody>
          <a:bodyPr>
            <a:normAutofit/>
          </a:bodyPr>
          <a:lstStyle/>
          <a:p>
            <a:pPr marL="365760" indent="0">
              <a:lnSpc>
                <a:spcPct val="107000"/>
              </a:lnSpc>
              <a:buNone/>
            </a:pPr>
            <a:r>
              <a:rPr lang="en-US" sz="2400" b="1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	</a:t>
            </a:r>
            <a:r>
              <a:rPr lang="en-US" sz="2400" b="1" u="sng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Facial Emotion Recognition (FER)</a:t>
            </a:r>
            <a:r>
              <a:rPr lang="en-US" sz="2400" b="1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</a:t>
            </a:r>
            <a:r>
              <a:rPr lang="en-US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nterpret human emotions through facial expressions. 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Enables</a:t>
            </a:r>
            <a:r>
              <a:rPr lang="en-US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system to recognize and respond to customers' emotional states in real time.</a:t>
            </a:r>
            <a:endParaRPr lang="en-IN" sz="2400" kern="1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>
              <a:lnSpc>
                <a:spcPct val="107000"/>
              </a:lnSpc>
              <a:buNone/>
            </a:pPr>
            <a:r>
              <a:rPr lang="en-US" sz="2400" b="1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	</a:t>
            </a:r>
            <a:r>
              <a:rPr lang="en-US" sz="2400" b="1" u="sng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Project Goal 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Develop a system to accurately classify facial expressions</a:t>
            </a:r>
            <a:r>
              <a:rPr lang="en-US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400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Predefined emotional categories : happiness, sadness, anger, surprise, fear, neutral and disgust.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Utilize deep learning and image processing</a:t>
            </a:r>
          </a:p>
        </p:txBody>
      </p:sp>
    </p:spTree>
    <p:extLst>
      <p:ext uri="{BB962C8B-B14F-4D97-AF65-F5344CB8AC3E}">
        <p14:creationId xmlns:p14="http://schemas.microsoft.com/office/powerpoint/2010/main" val="424819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C05E4-8C6E-E6D5-F838-20B4118F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8744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DFD50-4DF2-509D-A494-1647A4D9B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243871"/>
            <a:ext cx="10929257" cy="2937836"/>
          </a:xfrm>
        </p:spPr>
        <p:txBody>
          <a:bodyPr>
            <a:normAutofit lnSpcReduction="10000"/>
          </a:bodyPr>
          <a:lstStyle/>
          <a:p>
            <a:pPr marL="365760" indent="0">
              <a:lnSpc>
                <a:spcPct val="107000"/>
              </a:lnSpc>
              <a:buNone/>
            </a:pPr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 in the Market Research and Advertising: Understanding customer emotions.</a:t>
            </a:r>
            <a:r>
              <a:rPr lang="en-IN" kern="100" dirty="0">
                <a:solidFill>
                  <a:schemeClr val="accent3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Analysing consumer reactions to advertisements, products, or services.</a:t>
            </a:r>
          </a:p>
          <a:p>
            <a:pPr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    </a:t>
            </a:r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Aim:</a:t>
            </a:r>
            <a:endParaRPr lang="en-IN" kern="100" dirty="0">
              <a:solidFill>
                <a:schemeClr val="accent3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Develop </a:t>
            </a:r>
            <a:r>
              <a:rPr lang="en-US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real-time Facial Emotion Recognition system.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Enable personalized and empathetic retail interactions.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Understand the influence of emotions in purchasing decisions.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BE1084-1C0C-5BF0-3474-38EC34A7FC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571" y="4181708"/>
            <a:ext cx="11571516" cy="248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95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DF4C6-CD58-9DCD-7875-8328012C5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0101"/>
            <a:ext cx="9720072" cy="1393011"/>
          </a:xfrm>
        </p:spPr>
        <p:txBody>
          <a:bodyPr>
            <a:normAutofit/>
          </a:bodyPr>
          <a:lstStyle/>
          <a:p>
            <a:r>
              <a:rPr lang="en-US" sz="4400" b="1" kern="100" dirty="0">
                <a:solidFill>
                  <a:schemeClr val="accent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Dataset Used</a:t>
            </a:r>
            <a:endParaRPr lang="en-IN" sz="4400" b="1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021E8-4563-605A-AA72-C2CD4CE55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1857"/>
            <a:ext cx="10515600" cy="3833099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N" sz="20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 2013 dataset from Kaggle.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Image Characteristics: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48x48 pixel grayscale images of faces.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Faces are centered and occupy similar space in each image.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Dataset Split: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Training set: </a:t>
            </a:r>
            <a:r>
              <a:rPr lang="en-US" sz="2000" dirty="0">
                <a:highlight>
                  <a:srgbClr val="00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28,709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examples.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Validation set: </a:t>
            </a:r>
            <a:r>
              <a:rPr lang="en-US" sz="2000" dirty="0">
                <a:highlight>
                  <a:srgbClr val="00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7,163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examples.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Test set: </a:t>
            </a:r>
            <a:r>
              <a:rPr lang="en-US" sz="2000" dirty="0">
                <a:highlight>
                  <a:srgbClr val="00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examples (varying pixel size).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07F88D-A6A7-5574-2CE6-1C12256A6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86" y="4738206"/>
            <a:ext cx="11702143" cy="2029693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2FB2A9DE-9A8B-2C07-E8E3-4AD5E7F5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45771" y="90101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082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E9BE-7EC5-9878-A340-A52580BCA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500" y="0"/>
            <a:ext cx="9720072" cy="1499616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Preprocessing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4BD9E3-ADFB-968A-7CA7-B98AB24DF5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499" y="1306285"/>
            <a:ext cx="10797757" cy="5050971"/>
          </a:xfrm>
        </p:spPr>
      </p:pic>
    </p:spTree>
    <p:extLst>
      <p:ext uri="{BB962C8B-B14F-4D97-AF65-F5344CB8AC3E}">
        <p14:creationId xmlns:p14="http://schemas.microsoft.com/office/powerpoint/2010/main" val="3406853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66FC3-7F13-D48B-2D81-529A8D2F2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7086"/>
            <a:ext cx="10623586" cy="1262743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Building </a:t>
            </a:r>
            <a:endParaRPr lang="en-IN" sz="4400" dirty="0">
              <a:solidFill>
                <a:schemeClr val="accent4"/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CD34BD8-29E8-F8DE-D31B-56F97DF0E8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086" y="1143000"/>
            <a:ext cx="11103428" cy="5166360"/>
          </a:xfrm>
        </p:spPr>
        <p:txBody>
          <a:bodyPr/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Convolutional Neural Network (CNN)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 TensorFlow and </a:t>
            </a:r>
            <a:r>
              <a:rPr lang="en-US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endParaRPr lang="en-US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Techniques to improve performance: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Max pooling (down sampling).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Dropout layers (prevent overfitting).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Early stopping (prevent overfitting, 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    conserve resources).</a:t>
            </a:r>
          </a:p>
          <a:p>
            <a:endParaRPr lang="en-US" sz="2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0ADB402-8278-B3AB-F950-6BAE2BC18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42" y="1023257"/>
            <a:ext cx="5780313" cy="528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663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A60FD-060D-73FD-FAC1-E2E698D06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14" y="100584"/>
            <a:ext cx="9720072" cy="933559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 Parameter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29EF0-8EA4-4C75-9846-9EFA5125C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86" y="1556658"/>
            <a:ext cx="10515600" cy="505097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Optimizing model performance by finding the best hyperparameter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Tool used : </a:t>
            </a:r>
            <a:r>
              <a:rPr lang="en-US" sz="24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Optuna</a:t>
            </a:r>
            <a:endParaRPr lang="en-US" sz="2400" dirty="0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A</a:t>
            </a:r>
            <a:r>
              <a:rPr lang="en-US" sz="240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software framework for automating the hyperparameter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optimization</a:t>
            </a:r>
            <a:endParaRPr lang="en-US" sz="240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IN" sz="24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Hyper Parameters (after 20 </a:t>
            </a:r>
            <a:r>
              <a:rPr lang="en-IN" sz="2400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Optuna</a:t>
            </a:r>
            <a:r>
              <a:rPr lang="en-IN" sz="2400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Study Trials):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400" kern="1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dense_units</a:t>
            </a:r>
            <a:r>
              <a:rPr lang="en-IN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192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400" kern="1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dropout_rate</a:t>
            </a:r>
            <a:r>
              <a:rPr lang="en-IN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0.10504893311227131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400" kern="1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learning_rate</a:t>
            </a:r>
            <a:r>
              <a:rPr lang="en-IN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0.00044000050917227527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400" kern="1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batch_size</a:t>
            </a:r>
            <a:r>
              <a:rPr lang="en-IN" sz="2400" kern="1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32</a:t>
            </a:r>
          </a:p>
          <a:p>
            <a:pPr marL="708660" indent="-342900">
              <a:lnSpc>
                <a:spcPct val="107000"/>
              </a:lnSpc>
              <a:buFont typeface="Arial" panose="020B0604020202020204" pitchFamily="34" charset="0"/>
              <a:buChar char="•"/>
            </a:pPr>
            <a:endParaRPr lang="en-IN" sz="2400" kern="100" dirty="0">
              <a:solidFill>
                <a:schemeClr val="accent1">
                  <a:lumMod val="75000"/>
                </a:schemeClr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2400" b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219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172D-1CD2-A535-A98F-59B88881A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1331"/>
            <a:ext cx="10515600" cy="1325563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Metrics Used – Accuracy  </a:t>
            </a:r>
            <a:endParaRPr lang="en-IN" sz="4400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E800-FDCF-70EF-DB09-276A818A86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704114" cy="4117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IN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Base Model</a:t>
            </a:r>
          </a:p>
          <a:p>
            <a:pPr marL="0" indent="0">
              <a:lnSpc>
                <a:spcPct val="100000"/>
              </a:lnSpc>
              <a:buNone/>
            </a:pPr>
            <a:endParaRPr lang="en-IN" sz="20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Training Accuracy: 63.2%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Validation Accuracy: 60.59%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Test Accuracy: 67%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28016" lvl="1" indent="0">
              <a:lnSpc>
                <a:spcPct val="100000"/>
              </a:lnSpc>
              <a:buNone/>
            </a:pPr>
            <a:r>
              <a:rPr lang="en-IN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Hyperparameter Tuned Model:</a:t>
            </a:r>
          </a:p>
          <a:p>
            <a:pPr marL="128016" lvl="1" indent="0">
              <a:lnSpc>
                <a:spcPct val="100000"/>
              </a:lnSpc>
              <a:buNone/>
            </a:pPr>
            <a:endParaRPr lang="en-IN" sz="20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Training Accuracy: 62.37%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Validation Accuracy: 60.03%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Test Accuracy: 76%</a:t>
            </a:r>
          </a:p>
          <a:p>
            <a:pPr lvl="1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b="1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FFDA37-F52E-1E88-7255-43CBC6DEE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5885" y="491331"/>
            <a:ext cx="2177144" cy="154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96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4B4E2-D504-F943-7AA5-5D3E777F3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971" y="457200"/>
            <a:ext cx="10515600" cy="751114"/>
          </a:xfrm>
        </p:spPr>
        <p:txBody>
          <a:bodyPr>
            <a:no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Plots of Accuracy and Loss</a:t>
            </a:r>
            <a:endParaRPr lang="en-IN" sz="4400" dirty="0">
              <a:solidFill>
                <a:schemeClr val="accent4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73194E4-F8EB-2238-CDEF-282C719D6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9943" y="1807029"/>
            <a:ext cx="6281057" cy="4061959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E2F25-A7B3-7E00-9B71-B1DE9E7039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6685" y="1807029"/>
            <a:ext cx="4659085" cy="4061959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Model ran for approx. 50 epochs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Early Stopping at the 44</a:t>
            </a:r>
            <a:r>
              <a:rPr lang="en-IN" sz="2000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 epoch (patience =5)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Training accuracy : 63.2%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Validation Accuracy: 60.59%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Training Loss: 0.9766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Validation Loss: 1.0491</a:t>
            </a:r>
          </a:p>
        </p:txBody>
      </p:sp>
    </p:spTree>
    <p:extLst>
      <p:ext uri="{BB962C8B-B14F-4D97-AF65-F5344CB8AC3E}">
        <p14:creationId xmlns:p14="http://schemas.microsoft.com/office/powerpoint/2010/main" val="3740757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71C66-B30D-918A-ADE9-25DCDC8D7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41514"/>
            <a:ext cx="11582401" cy="1447800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Metrics Used – Confusion Metrics</a:t>
            </a:r>
            <a:endParaRPr lang="en-IN" sz="4400" dirty="0">
              <a:solidFill>
                <a:schemeClr val="accent4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898A0-D407-5EE5-7C71-165EBCEC9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2007" y="1496105"/>
            <a:ext cx="5157787" cy="550408"/>
          </a:xfrm>
        </p:spPr>
        <p:txBody>
          <a:bodyPr>
            <a:normAutofit/>
          </a:bodyPr>
          <a:lstStyle/>
          <a:p>
            <a:r>
              <a:rPr lang="en-IN" sz="24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 Model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B39EA4A-AF98-2D23-6A93-8D74ECC27A5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122714"/>
            <a:ext cx="4910155" cy="449580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62702-0CE7-D0F7-6897-AFE5EBCC37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96805" y="1496105"/>
            <a:ext cx="5183188" cy="550408"/>
          </a:xfrm>
        </p:spPr>
        <p:txBody>
          <a:bodyPr>
            <a:normAutofit/>
          </a:bodyPr>
          <a:lstStyle/>
          <a:p>
            <a:r>
              <a:rPr lang="en-IN" sz="2400" b="1" u="sng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 Parameter Tuned Model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30EB539-853F-9FCE-DF57-675D81052B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820" y="2122715"/>
            <a:ext cx="5007123" cy="4495800"/>
          </a:xfrm>
        </p:spPr>
      </p:pic>
    </p:spTree>
    <p:extLst>
      <p:ext uri="{BB962C8B-B14F-4D97-AF65-F5344CB8AC3E}">
        <p14:creationId xmlns:p14="http://schemas.microsoft.com/office/powerpoint/2010/main" val="1753969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753E6-6723-9F17-521E-6DF85395B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30630"/>
            <a:ext cx="10515600" cy="1320574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Inference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3A3197-8D3E-D5B3-3347-055CCD009A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51203"/>
            <a:ext cx="5157787" cy="823912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 Model </a:t>
            </a:r>
          </a:p>
          <a:p>
            <a:r>
              <a:rPr lang="en-IN" b="1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Accuracy – 67%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C2389C5-25F7-5529-AB1A-E0CA00618C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275115"/>
            <a:ext cx="5616575" cy="2859540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1FADB-B963-9F5F-A82D-36C22ADCEF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371601"/>
            <a:ext cx="5183188" cy="823912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 Parameter tuned Model</a:t>
            </a:r>
          </a:p>
          <a:p>
            <a:r>
              <a:rPr lang="en-IN" b="1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Accuracy – 76%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98365FC-86FB-8A8F-C2E1-5A5CC9EC97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5115"/>
            <a:ext cx="5856514" cy="2859541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10A4B5-BD99-947A-A0BB-939A45348866}"/>
              </a:ext>
            </a:extLst>
          </p:cNvPr>
          <p:cNvCxnSpPr/>
          <p:nvPr/>
        </p:nvCxnSpPr>
        <p:spPr>
          <a:xfrm>
            <a:off x="5997575" y="1451203"/>
            <a:ext cx="98425" cy="511288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B98A4D9-DB1C-3EA7-6CA6-2571C13B3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404" y="5406797"/>
            <a:ext cx="5192032" cy="12191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5A9615C-555C-EC33-F0FD-00F8C196C6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307" y="5377882"/>
            <a:ext cx="5453289" cy="1233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94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12103-0F1E-4729-57C1-EDFEC7056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3561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93964-FCBB-6251-D34F-1FD7A6134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228" y="2303008"/>
            <a:ext cx="10515600" cy="4380820"/>
          </a:xfrm>
        </p:spPr>
        <p:txBody>
          <a:bodyPr>
            <a:normAutofit fontScale="92500" lnSpcReduction="20000"/>
          </a:bodyPr>
          <a:lstStyle/>
          <a:p>
            <a:pPr marL="514350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Transfer Learning:</a:t>
            </a: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Leverage pre-trained models (</a:t>
            </a:r>
            <a:r>
              <a:rPr lang="en-IN" sz="2000" dirty="0" err="1">
                <a:latin typeface="Arial" panose="020B0604020202020204" pitchFamily="34" charset="0"/>
                <a:cs typeface="Arial" panose="020B0604020202020204" pitchFamily="34" charset="0"/>
              </a:rPr>
              <a:t>EfficientNet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, ResNet50, MobileNetV2).</a:t>
            </a:r>
          </a:p>
          <a:p>
            <a:pPr marL="514350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 Mechanisms:</a:t>
            </a: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Use Squeeze-and-Excitation (SE) blocks or self-attention.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Focus on important facial regions (eyes, mouth).</a:t>
            </a:r>
          </a:p>
          <a:p>
            <a:pPr marL="514350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en-IN" dirty="0" err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Ensembling</a:t>
            </a:r>
            <a:r>
              <a:rPr lang="en-IN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fr-FR" sz="2000" dirty="0">
                <a:latin typeface="Arial" panose="020B0604020202020204" pitchFamily="34" charset="0"/>
                <a:cs typeface="Arial" panose="020B0604020202020204" pitchFamily="34" charset="0"/>
              </a:rPr>
              <a:t>Combine multiple </a:t>
            </a:r>
            <a:r>
              <a:rPr lang="fr-FR" sz="2000" dirty="0" err="1"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r>
              <a:rPr lang="fr-FR" sz="2000" dirty="0">
                <a:latin typeface="Arial" panose="020B0604020202020204" pitchFamily="34" charset="0"/>
                <a:cs typeface="Arial" panose="020B0604020202020204" pitchFamily="34" charset="0"/>
              </a:rPr>
              <a:t> (e.g., CNN + Transformer, CNN + SVM).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Average predictions for increased robustness and accuracy.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Real-time Deployment:</a:t>
            </a: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Integrate with OpenCV.</a:t>
            </a:r>
          </a:p>
          <a:p>
            <a:pPr marL="870966" lvl="2" indent="-2857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Enable real-time emotion detection from live camera feeds.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285750">
              <a:lnSpc>
                <a:spcPct val="107000"/>
              </a:lnSpc>
            </a:pPr>
            <a:endParaRPr lang="en-IN" sz="18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514350" indent="-285750">
              <a:lnSpc>
                <a:spcPct val="107000"/>
              </a:lnSpc>
            </a:pPr>
            <a:endParaRPr lang="en-IN" sz="1800" b="1" u="sng" kern="100" dirty="0">
              <a:solidFill>
                <a:srgbClr val="44546A"/>
              </a:solidFill>
              <a:latin typeface="Arial" panose="020B0604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514350" indent="-285750">
              <a:lnSpc>
                <a:spcPct val="107000"/>
              </a:lnSpc>
            </a:pP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8428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71FE4-87A3-9019-9499-281901340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53886"/>
          </a:xfrm>
        </p:spPr>
        <p:txBody>
          <a:bodyPr>
            <a:normAutofit/>
          </a:bodyPr>
          <a:lstStyle/>
          <a:p>
            <a:r>
              <a:rPr lang="en-IN" sz="44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56D0F-3790-5205-3B06-79AA2D80A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10569158" cy="4224528"/>
          </a:xfrm>
        </p:spPr>
        <p:txBody>
          <a:bodyPr>
            <a:normAutofit fontScale="92500"/>
          </a:bodyPr>
          <a:lstStyle/>
          <a:p>
            <a:pPr lvl="1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Project utilized the FER 2013 dataset from Kaggle.</a:t>
            </a:r>
            <a:r>
              <a:rPr lang="en-I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Successfully developed a model to recognize seven emotion classes.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Code, model weights, and metric visualizations are available on GitHub: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3">
              <a:buFont typeface="Arial" panose="020B0604020202020204" pitchFamily="34" charset="0"/>
              <a:buChar char="•"/>
            </a:pPr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https://github.com/VeenaGindo/AI-ML/tree/main/FacialEmotionRecognition</a:t>
            </a:r>
          </a:p>
          <a:p>
            <a:endParaRPr lang="en-IN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250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4821F-510E-F1A3-CB71-FD61B66AC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5192486"/>
          </a:xfrm>
        </p:spPr>
        <p:txBody>
          <a:bodyPr>
            <a:normAutofit/>
          </a:bodyPr>
          <a:lstStyle/>
          <a:p>
            <a:pPr algn="ctr"/>
            <a:r>
              <a:rPr lang="en-IN" sz="8800" dirty="0">
                <a:solidFill>
                  <a:schemeClr val="accent4"/>
                </a:solidFill>
                <a:latin typeface="Algerian" panose="04020705040A02060702" pitchFamily="8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70334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1852</TotalTime>
  <Words>562</Words>
  <Application>Microsoft Office PowerPoint</Application>
  <PresentationFormat>Widescreen</PresentationFormat>
  <Paragraphs>114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Algerian</vt:lpstr>
      <vt:lpstr>Arial</vt:lpstr>
      <vt:lpstr>Calibri</vt:lpstr>
      <vt:lpstr>Century Gothic</vt:lpstr>
      <vt:lpstr>Symbol</vt:lpstr>
      <vt:lpstr>Mesh</vt:lpstr>
      <vt:lpstr> Facial Emotion Recognition  Capstone Project </vt:lpstr>
      <vt:lpstr>Contents</vt:lpstr>
      <vt:lpstr>Introduction</vt:lpstr>
      <vt:lpstr>Problem Statement</vt:lpstr>
      <vt:lpstr>Dataset Used</vt:lpstr>
      <vt:lpstr>Data Preprocessing</vt:lpstr>
      <vt:lpstr>Model Building </vt:lpstr>
      <vt:lpstr>Hyper Parameter Tuning</vt:lpstr>
      <vt:lpstr>Metrics Used – Accuracy  </vt:lpstr>
      <vt:lpstr>Plots of Accuracy and Loss</vt:lpstr>
      <vt:lpstr>Metrics Used – Confusion Metrics</vt:lpstr>
      <vt:lpstr>Inference</vt:lpstr>
      <vt:lpstr>Future Improvements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Veena Gindo</dc:creator>
  <cp:lastModifiedBy>Veena Gindo</cp:lastModifiedBy>
  <cp:revision>18</cp:revision>
  <dcterms:created xsi:type="dcterms:W3CDTF">2025-04-14T17:40:42Z</dcterms:created>
  <dcterms:modified xsi:type="dcterms:W3CDTF">2025-04-26T06:05:43Z</dcterms:modified>
</cp:coreProperties>
</file>