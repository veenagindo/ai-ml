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4" r:id="rId9"/>
    <p:sldId id="265" r:id="rId10"/>
    <p:sldId id="270" r:id="rId11"/>
    <p:sldId id="266" r:id="rId12"/>
    <p:sldId id="271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C1CF91-3372-4AAA-B8A4-1F0D0BEC6D29}">
          <p14:sldIdLst>
            <p14:sldId id="256"/>
            <p14:sldId id="257"/>
            <p14:sldId id="258"/>
            <p14:sldId id="259"/>
            <p14:sldId id="260"/>
            <p14:sldId id="261"/>
            <p14:sldId id="272"/>
            <p14:sldId id="264"/>
            <p14:sldId id="265"/>
            <p14:sldId id="270"/>
            <p14:sldId id="266"/>
            <p14:sldId id="271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7455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47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9046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7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62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25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0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25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24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19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77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75FFD08-F7C0-48E6-986B-C0D568938D4A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908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B88-A1E8-A062-13F7-AB9BC2305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257" y="1012372"/>
            <a:ext cx="6335485" cy="2994177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IN" sz="4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4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Facial Emotion Recognition</a:t>
            </a:r>
            <a:br>
              <a:rPr lang="en-US" sz="4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br>
              <a:rPr lang="en-US" sz="4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27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Capstone Project</a:t>
            </a:r>
            <a:br>
              <a:rPr lang="en-IN" sz="27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7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7AA79-4777-8DF6-07B8-C4BE48E54B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en-IN" dirty="0"/>
          </a:p>
          <a:p>
            <a:endParaRPr lang="en-IN" dirty="0"/>
          </a:p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endParaRPr lang="en-US" sz="1800" u="sng" kern="100" dirty="0">
              <a:solidFill>
                <a:srgbClr val="44546A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US" sz="9800" u="sng" kern="100" dirty="0">
              <a:solidFill>
                <a:srgbClr val="44546A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9800" u="sng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Presented by</a:t>
            </a:r>
            <a:endParaRPr lang="en-IN" sz="98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800" b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Veena Gindo</a:t>
            </a:r>
            <a:br>
              <a:rPr lang="en-US" sz="9800" b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IN" sz="9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FC63F-2987-768C-AA78-4695EE020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629" y="1333167"/>
            <a:ext cx="4441371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0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734B-CC17-9B2E-4F99-CD2EBF4B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8247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06F7-88A5-A320-9530-D2EB61D13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2"/>
            <a:ext cx="10515600" cy="4783592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 Statement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Dataset Used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Preprocessing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 Building and Evaluation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Hyper Parameter Tuning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Metrics Used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Inference</a:t>
            </a:r>
            <a:endParaRPr lang="en-US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Future Improvements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Conclusion</a:t>
            </a:r>
            <a:endParaRPr lang="en-IN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97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F45FC-5CA5-E076-58B7-91C0F3079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850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A339-1580-AF45-1725-8C4B74EF1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630"/>
            <a:ext cx="10515600" cy="4985656"/>
          </a:xfrm>
        </p:spPr>
        <p:txBody>
          <a:bodyPr>
            <a:normAutofit/>
          </a:bodyPr>
          <a:lstStyle/>
          <a:p>
            <a:pPr marL="365760" indent="0">
              <a:lnSpc>
                <a:spcPct val="107000"/>
              </a:lnSpc>
              <a:buNone/>
            </a:pPr>
            <a:r>
              <a:rPr lang="en-US" sz="2400" b="1" u="sng" kern="100" dirty="0">
                <a:solidFill>
                  <a:schemeClr val="accent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Facial Emotion Recognition (FER)</a:t>
            </a:r>
            <a:r>
              <a:rPr lang="en-US" sz="2400" b="1" kern="100" dirty="0">
                <a:solidFill>
                  <a:schemeClr val="accent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nterpret human emotions through facial expressions. 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Enables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system to recognize and respond to customers' emotional states in real time.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US" sz="2400" b="1" u="sng" kern="100" dirty="0">
                <a:solidFill>
                  <a:schemeClr val="accent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Goal 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 a system to accurately classify facial expressions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Predefined emotional categories : happiness, sadness, anger, surprise, fear, neutral and disgust.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Utilize deep learning and 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424819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05E4-8C6E-E6D5-F838-20B4118F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8744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DFD50-4DF2-509D-A494-1647A4D9B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43871"/>
            <a:ext cx="10929257" cy="2937836"/>
          </a:xfrm>
        </p:spPr>
        <p:txBody>
          <a:bodyPr>
            <a:normAutofit fontScale="92500"/>
          </a:bodyPr>
          <a:lstStyle/>
          <a:p>
            <a:pPr marL="365760" indent="0">
              <a:lnSpc>
                <a:spcPct val="107000"/>
              </a:lnSpc>
              <a:buNone/>
            </a:pPr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 in the Market Research and Advertising: Understanding customer emotions.</a:t>
            </a:r>
            <a:r>
              <a:rPr lang="en-IN" kern="100" dirty="0">
                <a:solidFill>
                  <a:schemeClr val="accent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Analysing consumer reactions to advertisements, products, or services.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    </a:t>
            </a:r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Aim:</a:t>
            </a:r>
            <a:endParaRPr lang="en-IN" kern="100" dirty="0">
              <a:solidFill>
                <a:schemeClr val="accent3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 </a:t>
            </a:r>
            <a:r>
              <a:rPr lang="en-US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real-time Facial Emotion Recognition system.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Enable personalized and empathetic retail interactions.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 the influence of emotions in purchasing decisions.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E1084-1C0C-5BF0-3474-38EC34A7F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8252"/>
            <a:ext cx="12192000" cy="246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F4C6-CD58-9DCD-7875-8328012C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0101"/>
            <a:ext cx="9720072" cy="1393011"/>
          </a:xfrm>
        </p:spPr>
        <p:txBody>
          <a:bodyPr>
            <a:normAutofit/>
          </a:bodyPr>
          <a:lstStyle/>
          <a:p>
            <a:r>
              <a:rPr lang="en-US" sz="4400" b="1" kern="1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Dataset Used</a:t>
            </a:r>
            <a:endParaRPr lang="en-IN" sz="44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021E8-4563-605A-AA72-C2CD4CE55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857"/>
            <a:ext cx="10515600" cy="383309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 2013 dataset from Kaggle.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Image Characteristics: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48x48 pixel grayscale images of faces.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Faces are centered and occupy similar space in each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Dataset Split: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Training set: </a:t>
            </a:r>
            <a:r>
              <a:rPr lang="en-US" sz="2000" dirty="0">
                <a:highlight>
                  <a:srgbClr val="00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28,709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examples.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Validation set: </a:t>
            </a:r>
            <a:r>
              <a:rPr lang="en-US" sz="2000" dirty="0">
                <a:highlight>
                  <a:srgbClr val="00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7,163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examples.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Test set: </a:t>
            </a:r>
            <a:r>
              <a:rPr lang="en-US" sz="2000" dirty="0">
                <a:highlight>
                  <a:srgbClr val="0000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examples (varying pixel size).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7F88D-A6A7-5574-2CE6-1C12256A6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38206"/>
            <a:ext cx="12192000" cy="211979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FB2A9DE-9A8B-2C07-E8E3-4AD5E7F5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5771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08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E9BE-7EC5-9878-A340-A52580BCA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500" y="0"/>
            <a:ext cx="9720072" cy="1499616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BD9E3-ADFB-968A-7CA7-B98AB24DF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99" y="1306285"/>
            <a:ext cx="10797757" cy="5050971"/>
          </a:xfrm>
        </p:spPr>
      </p:pic>
    </p:spTree>
    <p:extLst>
      <p:ext uri="{BB962C8B-B14F-4D97-AF65-F5344CB8AC3E}">
        <p14:creationId xmlns:p14="http://schemas.microsoft.com/office/powerpoint/2010/main" val="340685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6FC3-7F13-D48B-2D81-529A8D2F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87086"/>
            <a:ext cx="10623586" cy="1262743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Building </a:t>
            </a:r>
            <a:endParaRPr lang="en-IN" sz="4400" dirty="0">
              <a:solidFill>
                <a:schemeClr val="accent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D34BD8-29E8-F8DE-D31B-56F97DF0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3000"/>
            <a:ext cx="11103428" cy="5166360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Neural Network (CNN) using TensorFlow and </a:t>
            </a:r>
            <a:r>
              <a:rPr lang="en-US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endParaRPr lang="en-US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Techniques to improve performance: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Max pooling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downsampling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Dropout layers (prevent overfitting).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Early stopping (prevent overfitting,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conserve resources).</a:t>
            </a:r>
          </a:p>
          <a:p>
            <a:endParaRPr 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ADB402-8278-B3AB-F950-6BAE2BC18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086" y="1605091"/>
            <a:ext cx="6574970" cy="488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63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60FD-060D-73FD-FAC1-E2E698D0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14" y="100584"/>
            <a:ext cx="9720072" cy="933559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 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29EF0-8EA4-4C75-9846-9EFA5125C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144"/>
            <a:ext cx="10515600" cy="51428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Optimizing model performance by finding the best hyperparameter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Tool used : </a:t>
            </a:r>
            <a:r>
              <a:rPr lang="en-US" sz="24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endParaRPr lang="en-US" sz="24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lang="en-US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software framework for automating the hyperparameter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en-US" sz="24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Hyper Parameters (after 20 </a:t>
            </a:r>
            <a:r>
              <a:rPr lang="en-IN" sz="24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r>
              <a:rPr lang="en-IN" sz="24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Study Trials):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dense_units</a:t>
            </a:r>
            <a:r>
              <a:rPr lang="en-IN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192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dropout_rate</a:t>
            </a:r>
            <a:r>
              <a:rPr lang="en-IN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0.10504893311227131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learning_rate</a:t>
            </a:r>
            <a:r>
              <a:rPr lang="en-IN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0.00044000050917227527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batch_size</a:t>
            </a:r>
            <a:r>
              <a:rPr lang="en-IN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32</a:t>
            </a:r>
          </a:p>
          <a:p>
            <a:pPr marL="70866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endParaRPr lang="en-IN" sz="2400" kern="10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400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21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172D-1CD2-A535-A98F-59B88881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331"/>
            <a:ext cx="10515600" cy="1325563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 Used – Accuracy  </a:t>
            </a:r>
            <a:endParaRPr lang="en-IN" sz="44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3E800-FDCF-70EF-DB09-276A818A8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704114" cy="41179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Base Model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Training Accuracy: 63.2%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Validation Accuracy: 60.59%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Test Accuracy: 67%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016" lvl="1" indent="0">
              <a:lnSpc>
                <a:spcPct val="100000"/>
              </a:lnSpc>
              <a:buNone/>
            </a:pP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Hyperparameter Tuned Model:</a:t>
            </a:r>
          </a:p>
          <a:p>
            <a:pPr marL="128016" lvl="1" indent="0">
              <a:lnSpc>
                <a:spcPct val="100000"/>
              </a:lnSpc>
              <a:buNone/>
            </a:pPr>
            <a:endParaRPr lang="en-IN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Training Accuracy: 62.37%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Validation Accuracy: 60.03%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Test Accuracy: 76%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FFDA37-F52E-1E88-7255-43CBC6DEE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885" y="491331"/>
            <a:ext cx="2013858" cy="10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6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B4E2-D504-F943-7AA5-5D3E777F3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971" y="457200"/>
            <a:ext cx="10515600" cy="751114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Plots of Accuracy and Loss</a:t>
            </a:r>
            <a:endParaRPr lang="en-IN" sz="4400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3194E4-F8EB-2238-CDEF-282C719D6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57" y="1643743"/>
            <a:ext cx="6781799" cy="440664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E2F25-A7B3-7E00-9B71-B1DE9E703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6686" y="1807029"/>
            <a:ext cx="4245428" cy="406195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Model ran for approx. 50 epochs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Early Stopping at the 44</a:t>
            </a:r>
            <a:r>
              <a:rPr lang="en-IN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epoch (patience =5)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Training accuracy : 63.2%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Validation Accuracy: 60.59%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Training Loss: 0.9766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Validation Loss: 1.0491</a:t>
            </a:r>
          </a:p>
        </p:txBody>
      </p:sp>
    </p:spTree>
    <p:extLst>
      <p:ext uri="{BB962C8B-B14F-4D97-AF65-F5344CB8AC3E}">
        <p14:creationId xmlns:p14="http://schemas.microsoft.com/office/powerpoint/2010/main" val="3740757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1C66-B30D-918A-ADE9-25DCDC8D7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1514"/>
            <a:ext cx="11582401" cy="1447800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 Used – Confusion Metrics</a:t>
            </a:r>
            <a:endParaRPr lang="en-IN" sz="4400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898A0-D407-5EE5-7C71-165EBCEC9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572306"/>
            <a:ext cx="5157787" cy="550408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Model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39EA4A-AF98-2D23-6A93-8D74ECC27A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2122714"/>
            <a:ext cx="4910155" cy="4495801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62702-0CE7-D0F7-6897-AFE5EBCC3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26381"/>
            <a:ext cx="5183188" cy="550408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 Parameter Tuned Model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30EB539-853F-9FCE-DF57-675D81052B3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820" y="2122715"/>
            <a:ext cx="5007123" cy="4495800"/>
          </a:xfrm>
        </p:spPr>
      </p:pic>
    </p:spTree>
    <p:extLst>
      <p:ext uri="{BB962C8B-B14F-4D97-AF65-F5344CB8AC3E}">
        <p14:creationId xmlns:p14="http://schemas.microsoft.com/office/powerpoint/2010/main" val="1753969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53E6-6723-9F17-521E-6DF85395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0630"/>
            <a:ext cx="10515600" cy="1320574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A3197-8D3E-D5B3-3347-055CCD009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51203"/>
            <a:ext cx="5157787" cy="82391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Model </a:t>
            </a:r>
          </a:p>
          <a:p>
            <a:r>
              <a:rPr lang="en-IN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– 67%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2389C5-25F7-5529-AB1A-E0CA00618C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75115"/>
            <a:ext cx="5616575" cy="285954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1FADB-B963-9F5F-A82D-36C22ADCE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1601"/>
            <a:ext cx="5183188" cy="8239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 Parameter tuned Model</a:t>
            </a:r>
          </a:p>
          <a:p>
            <a:r>
              <a:rPr lang="en-IN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– 76%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98365FC-86FB-8A8F-C2E1-5A5CC9EC974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5115"/>
            <a:ext cx="5856514" cy="2859541"/>
          </a:xfr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10A4B5-BD99-947A-A0BB-939A45348866}"/>
              </a:ext>
            </a:extLst>
          </p:cNvPr>
          <p:cNvCxnSpPr/>
          <p:nvPr/>
        </p:nvCxnSpPr>
        <p:spPr>
          <a:xfrm>
            <a:off x="5997575" y="1451203"/>
            <a:ext cx="98425" cy="511288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B98A4D9-DB1C-3EA7-6CA6-2571C13B3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04" y="5406797"/>
            <a:ext cx="5192032" cy="1219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A9615C-555C-EC33-F0FD-00F8C196C6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307" y="5377882"/>
            <a:ext cx="5453289" cy="12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94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2103-0F1E-4729-57C1-EDFEC705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3561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93964-FCBB-6251-D34F-1FD7A6134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057"/>
            <a:ext cx="10515600" cy="4848906"/>
          </a:xfrm>
        </p:spPr>
        <p:txBody>
          <a:bodyPr>
            <a:normAutofit lnSpcReduction="10000"/>
          </a:bodyPr>
          <a:lstStyle/>
          <a:p>
            <a:pPr marL="5143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 Learning:</a:t>
            </a:r>
          </a:p>
          <a:p>
            <a:pPr marL="870966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Leverage pre-trained models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EfficientNet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ResNet50, MobileNetV2).</a:t>
            </a:r>
          </a:p>
          <a:p>
            <a:pPr marL="5143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Mechanisms:</a:t>
            </a:r>
          </a:p>
          <a:p>
            <a:pPr marL="870966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 Squeeze-and-Excitation (SE) blocks or self-attention.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70966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Focus on important facial regions (eyes, mouth).</a:t>
            </a:r>
          </a:p>
          <a:p>
            <a:pPr marL="5143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IN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Ensembling</a:t>
            </a:r>
            <a:r>
              <a:rPr lang="en-IN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70966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Combine multiple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(e.g., CNN + Transformer, CNN + SVM).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70966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Average predictions for increased robustness and accuracy.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Deployment:</a:t>
            </a:r>
          </a:p>
          <a:p>
            <a:pPr marL="870966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Integrate with OpenCV.</a:t>
            </a:r>
          </a:p>
          <a:p>
            <a:pPr marL="870966" lvl="2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Enable real-time emotion detection from live camera feeds.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07000"/>
              </a:lnSpc>
            </a:pP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07000"/>
              </a:lnSpc>
            </a:pPr>
            <a:endParaRPr lang="en-IN" sz="1800" b="1" u="sng" kern="1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07000"/>
              </a:lnSpc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428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1FE4-87A3-9019-9499-28190134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56D0F-3790-5205-3B06-79AA2D80A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10569158" cy="4224528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utilized the FER 2013 dataset from Kaggle.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Successfully developed a model to recognize seven emotion classes.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Code, model weights, and metric visualizations are available on GitHub: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https://github.com/VeenaGindo/AI-ML/tree/main/FacialEmotionRecognition</a:t>
            </a:r>
          </a:p>
          <a:p>
            <a:endParaRPr lang="en-I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508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1829</TotalTime>
  <Words>557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Symbol</vt:lpstr>
      <vt:lpstr>Tw Cen MT</vt:lpstr>
      <vt:lpstr>Tw Cen MT Condensed</vt:lpstr>
      <vt:lpstr>Wingdings 3</vt:lpstr>
      <vt:lpstr>Integral</vt:lpstr>
      <vt:lpstr> Facial Emotion Recognition  Capstone Project </vt:lpstr>
      <vt:lpstr>Contents</vt:lpstr>
      <vt:lpstr>Introduction</vt:lpstr>
      <vt:lpstr>Problem Statement</vt:lpstr>
      <vt:lpstr>Dataset Used</vt:lpstr>
      <vt:lpstr>Data Preprocessing</vt:lpstr>
      <vt:lpstr>Model Building </vt:lpstr>
      <vt:lpstr>Hyper Parameter Tuning</vt:lpstr>
      <vt:lpstr>Metrics Used – Accuracy  </vt:lpstr>
      <vt:lpstr>Plots of Accuracy and Loss</vt:lpstr>
      <vt:lpstr>Metrics Used – Confusion Metrics</vt:lpstr>
      <vt:lpstr>Inference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Veena Gindo</dc:creator>
  <cp:lastModifiedBy>Veena Gindo</cp:lastModifiedBy>
  <cp:revision>14</cp:revision>
  <dcterms:created xsi:type="dcterms:W3CDTF">2025-04-14T17:40:42Z</dcterms:created>
  <dcterms:modified xsi:type="dcterms:W3CDTF">2025-04-25T10:46:32Z</dcterms:modified>
</cp:coreProperties>
</file>