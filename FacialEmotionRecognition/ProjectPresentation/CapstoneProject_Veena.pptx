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0" r:id="rId11"/>
    <p:sldId id="266" r:id="rId12"/>
    <p:sldId id="271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C1CF91-3372-4AAA-B8A4-1F0D0BEC6D29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4"/>
            <p14:sldId id="265"/>
            <p14:sldId id="270"/>
            <p14:sldId id="266"/>
            <p14:sldId id="271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792B-3426-2124-0D38-96B6C7650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C3F14-04BA-0E36-764D-CE94E4962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5A4E5-37C5-C1AB-BCDB-3573BE2E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5FB9C-6C0B-D078-28A9-6760B7771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A53BB-EB88-46BD-0645-F1D3A9DB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37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7195-73F8-8F7E-C184-F8A07C930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66DDF-74AB-7EBB-3E84-691A66590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C2C8D-9962-93FB-4D52-CD11F14B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DB24F-2E2A-0BCD-EAC9-26C08376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5A9BA-D314-B9A1-511A-704DE6EF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578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737C-7326-967D-A63A-B688785C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7A4DD-1CF6-50E3-F249-90C9B7ACD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57CC-1751-0C0F-DCCC-0FB71623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4AC69-6828-07F6-B228-67B53B7D3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E58C6-B03C-1162-6D10-8D726A9C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92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CF087-6F01-C252-13E2-7065AB56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3CB5-F01B-E298-B97A-2B1D5051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F4540-392C-5147-6E4A-485FF9D16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DCFAF-7CCC-7386-7D4F-7804D811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B5CCE-547F-DA23-9116-3DE5B295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8B102-0BFA-E635-4513-BA80FF98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41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8862-7BFF-E0AC-D601-C9E6C058D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2593D-E5FC-C7BF-CA97-80258B1EA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9B4E7-5A9A-0DC7-7E72-E2D429073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8305A-987B-B676-880C-D8961FE5D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A5402-3049-B0D3-5B04-060B5A292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AFB41-EDE5-200E-A34A-9A89713DD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8793C-CCF8-06A7-DD83-9B2C50D3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4FEFC-D43E-0E11-E24C-8834BECD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99DF-76F8-2AB4-563E-DC6783E3E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6DA848-F1B6-FCA8-7DAA-61C08939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7A2E-2480-2840-3B64-A313B9BD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BBB45-9DDF-913C-F1AA-7691AC59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33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034B9-B642-8C95-E969-3C8458FE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0AA69-833C-02A7-7CBE-52AA6F7B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10EF5-4F54-1F87-73F4-4A45BE6F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57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AA595-B56F-149F-C9D6-1E210714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3A773-0A51-F93B-2344-E94F1C5C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08232-07E4-AB6C-865F-CEB2CFA86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91E49-16F4-90AF-F2E0-614A489CB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4494D-E90E-13C0-49DE-ADED7A91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CDA6C-EF2E-A141-87AA-A7D51A49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823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6728-A331-7EE8-458D-60E11D25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745D5A-588B-70F3-34C4-E95AD3669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28E40-772D-2E30-0787-31C5B07F6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2B9DB-A427-39AB-594B-2CE3E66F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2E310-E2E5-6E54-3A21-0377E9F55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851F2-CE3E-CE0B-EFC4-2DE84973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74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48DB-3499-76B1-5D0A-6FEC4218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FBA19-01B2-70AF-3FDD-944D67C63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53BF-58F5-F0C6-2519-48C1C3A70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5404E-37BD-4E8C-9753-8203BEC67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8155-DA11-C45F-2613-07E9C2EC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89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798F9-B440-52AD-9AFC-515E6F2BE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FDCDE6-18DB-EABF-DC62-69E01C894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4AEEF-E95E-4198-CD60-09D49A6F5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C1F10-F097-2B45-EEA0-35098D7C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D5F7-4C19-054C-F12D-9DA88A9A8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804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75F69-98AE-AA6E-7842-2BC2FEB72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45960-ACA3-E434-24E2-7CDE42EEA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591BA-54EC-FAC7-0195-B243D7972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FFD08-F7C0-48E6-986B-C0D568938D4A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DEF56-0939-49F5-E6C4-CD1B1127CD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3D192-D0BE-79AD-5439-A53764541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F237C-1634-4045-B940-CAF030BB8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367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B88-A1E8-A062-13F7-AB9BC23056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400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Capstone Project</a:t>
            </a:r>
            <a:br>
              <a:rPr lang="en-IN" sz="4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4400" kern="100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(Facial Emotion Recognition)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7AA79-4777-8DF6-07B8-C4BE48E54B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lang="en-IN" dirty="0"/>
          </a:p>
          <a:p>
            <a:endParaRPr lang="en-IN" dirty="0"/>
          </a:p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endParaRPr lang="en-US" sz="1800" u="sng" kern="100" dirty="0">
              <a:solidFill>
                <a:srgbClr val="44546A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US" sz="9800" u="sng" kern="100" dirty="0">
              <a:solidFill>
                <a:srgbClr val="44546A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9800" u="sng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 done by</a:t>
            </a:r>
            <a:endParaRPr lang="en-IN" sz="9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800" b="1" kern="100" dirty="0">
                <a:solidFill>
                  <a:srgbClr val="2F5597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Veena Gindo</a:t>
            </a:r>
            <a:br>
              <a:rPr lang="en-US" sz="9800" b="1" kern="100" dirty="0">
                <a:solidFill>
                  <a:srgbClr val="44546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IN" sz="9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FC63F-2987-768C-AA78-4695EE020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86" y="2784476"/>
            <a:ext cx="4441371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0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734B-CC17-9B2E-4F99-CD2EBF4B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824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06F7-88A5-A320-9530-D2EB61D13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2"/>
            <a:ext cx="10515600" cy="4783592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</a:t>
            </a:r>
            <a:endParaRPr lang="en-IN" sz="2000" kern="100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 Statement</a:t>
            </a:r>
            <a:endParaRPr lang="en-IN" sz="2000" kern="100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Dataset Used</a:t>
            </a:r>
            <a:endParaRPr lang="en-IN" sz="2000" kern="100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Preprocessing</a:t>
            </a:r>
            <a:endParaRPr lang="en-IN" sz="2000" kern="100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Model Building and Evaluation</a:t>
            </a:r>
          </a:p>
          <a:p>
            <a:pPr marL="34290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Hyper Parameter Tuning</a:t>
            </a:r>
            <a:endParaRPr lang="en-IN" sz="2000" kern="100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Metrics Used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Inference</a:t>
            </a:r>
            <a:endParaRPr lang="en-US" sz="2000" kern="100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Future Improvements</a:t>
            </a:r>
            <a:endParaRPr lang="en-IN" sz="2000" kern="100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kern="100" dirty="0">
                <a:solidFill>
                  <a:srgbClr val="7030A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Conclusion</a:t>
            </a:r>
            <a:endParaRPr lang="en-IN" sz="2000" kern="100" dirty="0">
              <a:solidFill>
                <a:srgbClr val="7030A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697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F45FC-5CA5-E076-58B7-91C0F3079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8505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A339-1580-AF45-1725-8C4B74EF1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630"/>
            <a:ext cx="10515600" cy="4985656"/>
          </a:xfrm>
        </p:spPr>
        <p:txBody>
          <a:bodyPr>
            <a:normAutofit fontScale="92500"/>
          </a:bodyPr>
          <a:lstStyle/>
          <a:p>
            <a:pPr marL="457200">
              <a:lnSpc>
                <a:spcPct val="107000"/>
              </a:lnSpc>
              <a:buNone/>
            </a:pPr>
            <a:r>
              <a:rPr lang="en-US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Facial Emotion Recognition (FER) is an emerging technology at the forefront of artificial intelligence and computer vision, designed to </a:t>
            </a: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interpret human emotions through facial expressions.</a:t>
            </a:r>
            <a:r>
              <a:rPr lang="en-US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the context of customer service, FER can play a transformative role by enabling systems to </a:t>
            </a: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recognize and respond to customers' emotional states in real time.</a:t>
            </a:r>
            <a:endParaRPr lang="en-IN" sz="2400" kern="10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US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N" sz="2400" kern="10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primary goal of this project is to develop a system that can accurately identify and classify facial expressions into predefined </a:t>
            </a: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emotional categories such as happiness, sadness, anger, surprise, fear, neutral and disgust. </a:t>
            </a:r>
            <a:r>
              <a:rPr lang="en-US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Leveraging deep learning models and powerful image processing tools, this project aims to enhance the </a:t>
            </a: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understanding of non-verbal communication</a:t>
            </a:r>
            <a:r>
              <a:rPr lang="en-US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by interpreting subtle facial cues.</a:t>
            </a:r>
            <a:r>
              <a:rPr lang="en-US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IN" sz="2400" kern="10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819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05E4-8C6E-E6D5-F838-20B4118F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8744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DFD50-4DF2-509D-A494-1647A4D9B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829"/>
            <a:ext cx="10515600" cy="4827134"/>
          </a:xfrm>
        </p:spPr>
        <p:txBody>
          <a:bodyPr/>
          <a:lstStyle/>
          <a:p>
            <a:pPr marL="457200">
              <a:lnSpc>
                <a:spcPct val="107000"/>
              </a:lnSpc>
              <a:buNone/>
            </a:pPr>
            <a:r>
              <a:rPr lang="en-IN" sz="20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challenging problem in retail industry is understanding customer emotions for enhancing service quality and customer satisfaction. </a:t>
            </a:r>
          </a:p>
          <a:p>
            <a:pPr marL="457200">
              <a:lnSpc>
                <a:spcPct val="107000"/>
              </a:lnSpc>
              <a:buNone/>
            </a:pPr>
            <a:r>
              <a:rPr lang="en-IN" sz="20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Traditional systems lack the ability to interpret emotional cues, limiting their ability to respond effectively to customer needs.</a:t>
            </a:r>
            <a:endParaRPr lang="en-IN" sz="2000" kern="1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en-IN" sz="20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This project aims to develop a Facial Emotion Recognition system that </a:t>
            </a:r>
            <a:r>
              <a:rPr lang="en-I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identifies customer emotions in real time to enable more personalized and empathetic retail interactions. Thus bridging the emotional gap between businesses and customers.</a:t>
            </a:r>
            <a:endParaRPr lang="en-IN" sz="2000" kern="10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E1084-1C0C-5BF0-3474-38EC34A7F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3" y="4388252"/>
            <a:ext cx="7913914" cy="20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DF4C6-CD58-9DCD-7875-8328012C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0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Dataset Used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021E8-4563-605A-AA72-C2CD4CE55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113"/>
            <a:ext cx="10515600" cy="44740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I have utilized the FER 2013 dataset provided in Kaggle.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data consists of 48x48 pixel grayscale images of faces. The faces have been automatically registered so that the face is more or less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centred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and occupies about the same amount of space in each image.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training set consists of 28,709 examples and the validation set consists of 7163 examples. The test set consists of varying pixel size of 45 examples.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7F88D-A6A7-5574-2CE6-1C12256A6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556658"/>
            <a:ext cx="10515600" cy="1741714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2FB2A9DE-9A8B-2C07-E8E3-4AD5E7F5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5771" y="9010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082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E9BE-7EC5-9878-A340-A52580BCA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Data Preprocessing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BD9E3-ADFB-968A-7CA7-B98AB24DF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29" y="1306285"/>
            <a:ext cx="10951028" cy="5050971"/>
          </a:xfrm>
        </p:spPr>
      </p:pic>
    </p:spTree>
    <p:extLst>
      <p:ext uri="{BB962C8B-B14F-4D97-AF65-F5344CB8AC3E}">
        <p14:creationId xmlns:p14="http://schemas.microsoft.com/office/powerpoint/2010/main" val="340685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F5DB-06E5-6002-C44A-25E112EF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550126" cy="136071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Building and Evaluation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74AD2C4-362F-DFAF-054E-5501310538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6" r="8366"/>
          <a:stretch>
            <a:fillRect/>
          </a:stretch>
        </p:blipFill>
        <p:spPr>
          <a:xfrm>
            <a:off x="6868887" y="794657"/>
            <a:ext cx="4615542" cy="550817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CF06D-9589-DAB1-44EB-B9D7F40C5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550126" cy="4103914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Convolutional Neural Network (CNN)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lang="en-IN" sz="24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libraries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building the model.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neural network contained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input layer, three hidden layers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fully connected laye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to process the images and predict the emotions. 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between each layer a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pooling layer and dropout layer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added for 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downsampling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data and prevent our model from overfitting. Also used 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stopping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 overfitting and wasting resources during trials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00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60FD-060D-73FD-FAC1-E2E698D0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 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29EF0-8EA4-4C75-9846-9EFA5125C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Hyperparameter tuning is 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process of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the best values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 learning algorithm's hyperparameters to optimize model performance</a:t>
            </a:r>
            <a:r>
              <a:rPr lang="en-US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have used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Optuna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</a:t>
            </a:r>
            <a:r>
              <a:rPr lang="en-US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software framework for automating the optimization process of </a:t>
            </a:r>
            <a:r>
              <a:rPr lang="en-US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hyperparameter tuning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Hyper Parameters after 20 </a:t>
            </a:r>
            <a:r>
              <a:rPr lang="en-IN" sz="2400" b="1" u="sng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Optuna</a:t>
            </a:r>
            <a:r>
              <a:rPr lang="en-IN" sz="2400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Study Trials</a:t>
            </a:r>
          </a:p>
          <a:p>
            <a:pPr marL="457200">
              <a:lnSpc>
                <a:spcPct val="107000"/>
              </a:lnSpc>
              <a:buNone/>
            </a:pPr>
            <a:r>
              <a:rPr lang="en-IN" sz="2400" b="1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dense_units</a:t>
            </a: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IN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192</a:t>
            </a:r>
          </a:p>
          <a:p>
            <a:pPr marL="457200">
              <a:lnSpc>
                <a:spcPct val="107000"/>
              </a:lnSpc>
              <a:buNone/>
            </a:pPr>
            <a:r>
              <a:rPr lang="en-IN" sz="2400" b="1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dropout_rate</a:t>
            </a: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IN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0.10504893311227131</a:t>
            </a:r>
          </a:p>
          <a:p>
            <a:pPr marL="457200">
              <a:lnSpc>
                <a:spcPct val="107000"/>
              </a:lnSpc>
              <a:buNone/>
            </a:pPr>
            <a:r>
              <a:rPr lang="en-IN" sz="2400" b="1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learning_rate</a:t>
            </a: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IN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0.00044000050917227527</a:t>
            </a: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batch_size</a:t>
            </a: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IN" sz="2400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32</a:t>
            </a:r>
          </a:p>
          <a:p>
            <a:endParaRPr lang="en-US" sz="2400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21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3837A6-CBE2-DCB0-39A0-E644E0F7A86B}"/>
              </a:ext>
            </a:extLst>
          </p:cNvPr>
          <p:cNvSpPr/>
          <p:nvPr/>
        </p:nvSpPr>
        <p:spPr>
          <a:xfrm>
            <a:off x="163286" y="1843086"/>
            <a:ext cx="5649686" cy="37848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B6172D-1CD2-A535-A98F-59B88881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66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 Used – Accuracy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3E800-FDCF-70EF-DB09-276A818A8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086" y="1825625"/>
            <a:ext cx="5018314" cy="364988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indent="0">
              <a:buNone/>
            </a:pPr>
            <a:r>
              <a:rPr lang="en-IN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Model</a:t>
            </a:r>
          </a:p>
          <a:p>
            <a:pPr marL="0" indent="0">
              <a:buNone/>
            </a:pP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Accuracy: 63.2%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 Accuracy: 60.59%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Accuracy: 67%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FFDA37-F52E-1E88-7255-43CBC6DEE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115" y="481919"/>
            <a:ext cx="2013858" cy="109197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9D89D6-3286-0F1F-143C-B1920A8E3401}"/>
              </a:ext>
            </a:extLst>
          </p:cNvPr>
          <p:cNvSpPr/>
          <p:nvPr/>
        </p:nvSpPr>
        <p:spPr>
          <a:xfrm>
            <a:off x="6161314" y="1843088"/>
            <a:ext cx="5649686" cy="37848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Hyper Parameter Tuned Model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Training Accuracy: 62.37%</a:t>
            </a: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Validation Accuracy: 60.03%</a:t>
            </a: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Test Accuracy: 76%</a:t>
            </a:r>
          </a:p>
        </p:txBody>
      </p:sp>
    </p:spTree>
    <p:extLst>
      <p:ext uri="{BB962C8B-B14F-4D97-AF65-F5344CB8AC3E}">
        <p14:creationId xmlns:p14="http://schemas.microsoft.com/office/powerpoint/2010/main" val="4063965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B4E2-D504-F943-7AA5-5D3E777F3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457200"/>
            <a:ext cx="8381999" cy="751114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Plots of Accuracy and Loss</a:t>
            </a:r>
            <a:endParaRPr lang="en-IN" sz="4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3194E4-F8EB-2238-CDEF-282C719D6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171" y="1621970"/>
            <a:ext cx="7826829" cy="416923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E2F25-A7B3-7E00-9B71-B1DE9E703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058" y="1807029"/>
            <a:ext cx="4016828" cy="4061959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model ran for almost 50 epochs, although it stopped at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r>
              <a:rPr lang="en-IN" sz="20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epoch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because of the early stopping callback with patience as 5.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Training accuracy : 63.2%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Validation Accuracy: 60.59%</a:t>
            </a: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Training Loss: 0.9766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Validation Loss: 1.0491</a:t>
            </a:r>
          </a:p>
        </p:txBody>
      </p:sp>
    </p:spTree>
    <p:extLst>
      <p:ext uri="{BB962C8B-B14F-4D97-AF65-F5344CB8AC3E}">
        <p14:creationId xmlns:p14="http://schemas.microsoft.com/office/powerpoint/2010/main" val="3740757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1C66-B30D-918A-ADE9-25DCDC8D7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 Used – Confusion Metrics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898A0-D407-5EE5-7C71-165EBCEC9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50408"/>
          </a:xfrm>
        </p:spPr>
        <p:txBody>
          <a:bodyPr/>
          <a:lstStyle/>
          <a:p>
            <a:r>
              <a:rPr lang="en-IN" dirty="0"/>
              <a:t>Base Model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39EA4A-AF98-2D23-6A93-8D74ECC27A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2385335"/>
            <a:ext cx="4910155" cy="423318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62702-0CE7-D0F7-6897-AFE5EBCC3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550408"/>
          </a:xfrm>
        </p:spPr>
        <p:txBody>
          <a:bodyPr/>
          <a:lstStyle/>
          <a:p>
            <a:r>
              <a:rPr lang="en-IN" dirty="0" err="1"/>
              <a:t>HyperParameter</a:t>
            </a:r>
            <a:r>
              <a:rPr lang="en-IN" dirty="0"/>
              <a:t> Tuned Model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30EB539-853F-9FCE-DF57-675D81052B3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962" y="2505074"/>
            <a:ext cx="5183188" cy="4113441"/>
          </a:xfrm>
        </p:spPr>
      </p:pic>
    </p:spTree>
    <p:extLst>
      <p:ext uri="{BB962C8B-B14F-4D97-AF65-F5344CB8AC3E}">
        <p14:creationId xmlns:p14="http://schemas.microsoft.com/office/powerpoint/2010/main" val="1753969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53E6-6723-9F17-521E-6DF85395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30630"/>
            <a:ext cx="10515600" cy="1320574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A3197-8D3E-D5B3-3347-055CCD009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51203"/>
            <a:ext cx="5157787" cy="823912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Base Model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Accuracy – 67%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2389C5-25F7-5529-AB1A-E0CA00618C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547258"/>
            <a:ext cx="5616575" cy="285954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1FADB-B963-9F5F-A82D-36C22ADCE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71601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Hyper Parameter tuned Model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Accuracy – 76%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98365FC-86FB-8A8F-C2E1-5A5CC9EC974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47257"/>
            <a:ext cx="5856514" cy="2859541"/>
          </a:xfr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10A4B5-BD99-947A-A0BB-939A45348866}"/>
              </a:ext>
            </a:extLst>
          </p:cNvPr>
          <p:cNvCxnSpPr/>
          <p:nvPr/>
        </p:nvCxnSpPr>
        <p:spPr>
          <a:xfrm>
            <a:off x="5997575" y="1451203"/>
            <a:ext cx="98425" cy="511288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B98A4D9-DB1C-3EA7-6CA6-2571C13B3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25" y="5508171"/>
            <a:ext cx="5192032" cy="1219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A9615C-555C-EC33-F0FD-00F8C196C6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286" y="5406798"/>
            <a:ext cx="5453289" cy="12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94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2103-0F1E-4729-57C1-EDFEC705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3561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93964-FCBB-6251-D34F-1FD7A6134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9943"/>
            <a:ext cx="10515600" cy="4457020"/>
          </a:xfrm>
        </p:spPr>
        <p:txBody>
          <a:bodyPr>
            <a:normAutofit fontScale="92500" lnSpcReduction="10000"/>
          </a:bodyPr>
          <a:lstStyle/>
          <a:p>
            <a:pPr marL="514350" indent="-285750">
              <a:lnSpc>
                <a:spcPct val="107000"/>
              </a:lnSpc>
            </a:pP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Transfer Learning:</a:t>
            </a:r>
            <a:b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Leverage pretrained models like </a:t>
            </a:r>
            <a:r>
              <a:rPr lang="en-IN" sz="2400" b="1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EfficientNet</a:t>
            </a: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ResNet50, or MobileNetV2 to improve feature extraction and training speed.</a:t>
            </a:r>
          </a:p>
          <a:p>
            <a:pPr marL="514350" indent="-285750">
              <a:lnSpc>
                <a:spcPct val="107000"/>
              </a:lnSpc>
            </a:pP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Attention Mechanisms</a:t>
            </a:r>
            <a:b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 Squeeze-and-Excitation (SE) blocks or self-attention to focus on important facial regions like eyes and mouth.</a:t>
            </a:r>
          </a:p>
          <a:p>
            <a:pPr marL="514350" indent="-285750">
              <a:lnSpc>
                <a:spcPct val="107000"/>
              </a:lnSpc>
            </a:pP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Model </a:t>
            </a:r>
            <a:r>
              <a:rPr lang="en-IN" sz="2400" b="1" kern="10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Ensembling</a:t>
            </a:r>
            <a:b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Combine multiple models (e.g., CNN + Transformer or CNN + SVM) and average their predictions to improve robustness and accuracy.</a:t>
            </a:r>
          </a:p>
          <a:p>
            <a:pPr marL="514350" indent="-285750">
              <a:lnSpc>
                <a:spcPct val="107000"/>
              </a:lnSpc>
            </a:pP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Real-time Deployment</a:t>
            </a:r>
            <a:b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IN" sz="24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Integrate with OpenCV for real-time emotion detection in live camera feeds.</a:t>
            </a:r>
            <a:endParaRPr lang="en-IN" sz="2400" kern="10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285750">
              <a:lnSpc>
                <a:spcPct val="107000"/>
              </a:lnSpc>
            </a:pPr>
            <a:endParaRPr lang="en-IN" sz="1800" b="1" u="sng" kern="100" dirty="0">
              <a:solidFill>
                <a:srgbClr val="44546A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07000"/>
              </a:lnSpc>
            </a:pP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07000"/>
              </a:lnSpc>
            </a:pPr>
            <a:endParaRPr lang="en-IN" sz="1800" b="1" u="sng" kern="1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285750">
              <a:lnSpc>
                <a:spcPct val="107000"/>
              </a:lnSpc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428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1FE4-87A3-9019-9499-281901340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56D0F-3790-5205-3B06-79AA2D80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explores the FER 2013 dataset provided by Kaggle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Successfully achieved our objective and created a model capable of recognizing seven different classes of emotions mentioned in the dataset.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code and the model weights and the images of all the metrics are available in the below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link.</a:t>
            </a:r>
          </a:p>
          <a:p>
            <a:r>
              <a:rPr lang="en-IN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https://github.com/VeenaGindo/AI-ML/tree/main/FacialEmotionRecognition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250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742</Words>
  <Application>Microsoft Office PowerPoint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Symbol</vt:lpstr>
      <vt:lpstr>Office Theme</vt:lpstr>
      <vt:lpstr>Capstone Project (Facial Emotion Recognition) </vt:lpstr>
      <vt:lpstr>Contents</vt:lpstr>
      <vt:lpstr>Introduction</vt:lpstr>
      <vt:lpstr>Problem Statement</vt:lpstr>
      <vt:lpstr>Dataset Used</vt:lpstr>
      <vt:lpstr>Data Preprocessing</vt:lpstr>
      <vt:lpstr>Model Building and Evaluation</vt:lpstr>
      <vt:lpstr>Hyper Parameter Tuning</vt:lpstr>
      <vt:lpstr>Metrics Used – Accuracy  </vt:lpstr>
      <vt:lpstr>Plots of Accuracy and Loss</vt:lpstr>
      <vt:lpstr>Metrics Used – Confusion Metrics</vt:lpstr>
      <vt:lpstr>Inference</vt:lpstr>
      <vt:lpstr>Future Improvements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Veena Gindo</dc:creator>
  <cp:lastModifiedBy>Veena Gindo</cp:lastModifiedBy>
  <cp:revision>5</cp:revision>
  <dcterms:created xsi:type="dcterms:W3CDTF">2025-04-14T17:40:42Z</dcterms:created>
  <dcterms:modified xsi:type="dcterms:W3CDTF">2025-04-14T20:30:26Z</dcterms:modified>
</cp:coreProperties>
</file>